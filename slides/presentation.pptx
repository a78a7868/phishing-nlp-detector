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411480"/>
            <a:ext cx="11365992" cy="6035040"/>
          </a:xfrm>
          <a:prstGeom prst="roundRect">
            <a:avLst/>
          </a:prstGeom>
          <a:solidFill>
            <a:srgbClr val="121A32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11365992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ECF2FF"/>
                </a:solidFill>
                <a:latin typeface="Trebuchet MS"/>
              </a:rPr>
              <a:t>AI-Driven Phishing Email Detection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0EA5E9"/>
                </a:solidFill>
                <a:latin typeface="Trebuchet MS"/>
              </a:rPr>
              <a:t>Using NLP  (Natural Language Processing)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3756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1">
                <a:solidFill>
                  <a:srgbClr val="96A8D2"/>
                </a:solidFill>
                <a:latin typeface="Calibri"/>
              </a:rPr>
              <a:t>A comparative study of hybrid text-feature and metadata-driven ensemble classifiers for automated cyber-threat filtering.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069080"/>
            <a:ext cx="4572000" cy="15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ECF2FF"/>
                </a:solidFill>
                <a:latin typeface="Trebuchet MS"/>
              </a:rPr>
              <a:t>Anand Krishna G R Nair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EA5E9"/>
                </a:solidFill>
                <a:latin typeface="Calibri"/>
              </a:rPr>
              <a:t>Registration No: 596563     |     anandkrishnag.rnair@gmail.com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6A8D2"/>
                </a:solidFill>
                <a:latin typeface="Calibri"/>
              </a:rPr>
              <a:t>Department of Computer Science and Engineering  ·  IICT, New Delhi — 110092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96A8D2"/>
                </a:solidFill>
                <a:latin typeface="Calibri"/>
              </a:rPr>
              <a:t>Tools: Python  ·  Scikit-Learn  ·  Gensim Word2Vec  ·  Streamlit  ·  NLTK  ·  spaCy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0EA5E9"/>
                </a:solidFill>
                <a:latin typeface="Calibri"/>
              </a:rPr>
              <a:t>CYBERSECURITY  ·  NLP  · 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00" cy="12700"/>
          </a:xfrm>
          <a:prstGeom prst="rect">
            <a:avLst/>
          </a:prstGeom>
          <a:solidFill>
            <a:srgbClr val="31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CF2FF"/>
                </a:solidFill>
                <a:latin typeface="Trebuchet MS"/>
              </a:rP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36192"/>
            <a:ext cx="3520440" cy="498348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700784"/>
            <a:ext cx="3191256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EA5E9"/>
                </a:solidFill>
                <a:latin typeface="Trebuchet MS"/>
              </a:rPr>
              <a:t>Proactive Threat Defense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Objective</a:t>
            </a:r>
            <a:r>
              <a:rPr sz="1200" b="0">
                <a:solidFill>
                  <a:srgbClr val="96A8D2"/>
                </a:solidFill>
                <a:latin typeface="Calibri"/>
              </a:rPr>
              <a:t>  Build a classifier that detects phishing emails before they reach the user's inbox.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Gap addressed</a:t>
            </a:r>
            <a:r>
              <a:rPr sz="1200" b="0">
                <a:solidFill>
                  <a:srgbClr val="96A8D2"/>
                </a:solidFill>
                <a:latin typeface="Calibri"/>
              </a:rPr>
              <a:t>  Signature-based blacklists fail against zero-day and spear-phishing variants.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Design goal</a:t>
            </a:r>
            <a:r>
              <a:rPr sz="1200" b="0">
                <a:solidFill>
                  <a:srgbClr val="96A8D2"/>
                </a:solidFill>
                <a:latin typeface="Calibri"/>
              </a:rPr>
              <a:t>  The system must generalise to unseen email text without manual rule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36192"/>
            <a:ext cx="3520440" cy="498348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700784"/>
            <a:ext cx="3191256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5B928"/>
                </a:solidFill>
                <a:latin typeface="Trebuchet MS"/>
              </a:rPr>
              <a:t>Hybrid Feature Engineering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Text semantics</a:t>
            </a:r>
            <a:r>
              <a:rPr sz="1200" b="0">
                <a:solidFill>
                  <a:srgbClr val="96A8D2"/>
                </a:solidFill>
                <a:latin typeface="Calibri"/>
              </a:rPr>
              <a:t>  TF-IDF extracts vocabulary patterns across unigrams, bigrams, and trigrams.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Word embeddings</a:t>
            </a:r>
            <a:r>
              <a:rPr sz="1200" b="0">
                <a:solidFill>
                  <a:srgbClr val="96A8D2"/>
                </a:solidFill>
                <a:latin typeface="Calibri"/>
              </a:rPr>
              <a:t>  Custom Word2Vec captures latent intent that simple word counts miss.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Structural signals</a:t>
            </a:r>
            <a:r>
              <a:rPr sz="1200" b="0">
                <a:solidFill>
                  <a:srgbClr val="96A8D2"/>
                </a:solidFill>
                <a:latin typeface="Calibri"/>
              </a:rPr>
              <a:t>  Metadata features (link density, urgency score) add behavioural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36192"/>
            <a:ext cx="3520440" cy="498348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700784"/>
            <a:ext cx="3191256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C55E"/>
                </a:solidFill>
                <a:latin typeface="Trebuchet MS"/>
              </a:rPr>
              <a:t>Model Comparison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Scope</a:t>
            </a:r>
            <a:r>
              <a:rPr sz="1200" b="0">
                <a:solidFill>
                  <a:srgbClr val="96A8D2"/>
                </a:solidFill>
                <a:latin typeface="Calibri"/>
              </a:rPr>
              <a:t>  Four classic ML classifiers are trained, tuned, and benchmarked side by side.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Ensemble</a:t>
            </a:r>
            <a:r>
              <a:rPr sz="1200" b="0">
                <a:solidFill>
                  <a:srgbClr val="96A8D2"/>
                </a:solidFill>
                <a:latin typeface="Calibri"/>
              </a:rPr>
              <a:t>  A soft-voting classifier combines model outputs for maximum stability.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Target</a:t>
            </a:r>
            <a:r>
              <a:rPr sz="1200" b="0">
                <a:solidFill>
                  <a:srgbClr val="96A8D2"/>
                </a:solidFill>
                <a:latin typeface="Calibri"/>
              </a:rPr>
              <a:t>  Achieve above 98% F1-Score on the stratified holdout test 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0EA5E9"/>
                </a:solidFill>
                <a:latin typeface="Calibri"/>
              </a:rPr>
              <a:t>CYBERSECURITY  ·  NLP  · 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00" cy="12700"/>
          </a:xfrm>
          <a:prstGeom prst="rect">
            <a:avLst/>
          </a:prstGeom>
          <a:solidFill>
            <a:srgbClr val="31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CF2FF"/>
                </a:solidFill>
                <a:latin typeface="Trebuchet MS"/>
              </a:rPr>
              <a:t>The Threat Landscape  and  the NLP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5394960" cy="502920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73352"/>
            <a:ext cx="5065776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DC3C3C"/>
                </a:solidFill>
                <a:latin typeface="Trebuchet MS"/>
              </a:rPr>
              <a:t>Limitations of Conventional Filters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DC3C3C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Scale of the problem</a:t>
            </a:r>
            <a:r>
              <a:rPr sz="1300" b="0">
                <a:solidFill>
                  <a:srgbClr val="96A8D2"/>
                </a:solidFill>
                <a:latin typeface="Calibri"/>
              </a:rPr>
              <a:t>  Over 90% of network intrusions begin with a phishing email.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Blacklist failure</a:t>
            </a:r>
            <a:r>
              <a:rPr sz="1300" b="0">
                <a:solidFill>
                  <a:srgbClr val="96A8D2"/>
                </a:solidFill>
                <a:latin typeface="Calibri"/>
              </a:rPr>
              <a:t>  Attackers rotate domains and URLs faster than signature databases can update.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Human targeting</a:t>
            </a:r>
            <a:r>
              <a:rPr sz="1300" b="0">
                <a:solidFill>
                  <a:srgbClr val="96A8D2"/>
                </a:solidFill>
                <a:latin typeface="Calibri"/>
              </a:rPr>
              <a:t>  Social engineering exploits cognitive biases, not software vulnerabilities.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Zero-day gap</a:t>
            </a:r>
            <a:r>
              <a:rPr sz="1300" b="0">
                <a:solidFill>
                  <a:srgbClr val="96A8D2"/>
                </a:solidFill>
                <a:latin typeface="Calibri"/>
              </a:rPr>
              <a:t>  No static rule can block a threat it has never seen before.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2918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400" b="1" i="0">
                <a:solidFill>
                  <a:srgbClr val="0EA5E9"/>
                </a:solidFill>
                <a:latin typeface="Trebuchet M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08760"/>
            <a:ext cx="5394960" cy="502920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673352"/>
            <a:ext cx="5065776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C55E"/>
                </a:solidFill>
                <a:latin typeface="Trebuchet MS"/>
              </a:rPr>
              <a:t>Why NLP Changes the Game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22C55E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Semantic understanding</a:t>
            </a:r>
            <a:r>
              <a:rPr sz="1300" b="0">
                <a:solidFill>
                  <a:srgbClr val="96A8D2"/>
                </a:solidFill>
                <a:latin typeface="Calibri"/>
              </a:rPr>
              <a:t>  TF-IDF and Word2Vec surface urgency triggers that rules can never capture.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Vocabulary resilience</a:t>
            </a:r>
            <a:r>
              <a:rPr sz="1300" b="0">
                <a:solidFill>
                  <a:srgbClr val="96A8D2"/>
                </a:solidFill>
                <a:latin typeface="Calibri"/>
              </a:rPr>
              <a:t>  Dense embeddings generalise across synonyms without retraining.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Behavioural indicators</a:t>
            </a:r>
            <a:r>
              <a:rPr sz="1300" b="0">
                <a:solidFill>
                  <a:srgbClr val="96A8D2"/>
                </a:solidFill>
                <a:latin typeface="Calibri"/>
              </a:rPr>
              <a:t>  Capitalisation ratios, link counts, and punctuation density expose automated templates.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Ensemble power</a:t>
            </a:r>
            <a:r>
              <a:rPr sz="1300" b="0">
                <a:solidFill>
                  <a:srgbClr val="96A8D2"/>
                </a:solidFill>
                <a:latin typeface="Calibri"/>
              </a:rPr>
              <a:t>  Combining four models via soft-voting minimises individual classifier weaknesses.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0EA5E9"/>
                </a:solidFill>
                <a:latin typeface="Calibri"/>
              </a:rPr>
              <a:t>CYBERSECURITY  ·  NLP  · 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00" cy="12700"/>
          </a:xfrm>
          <a:prstGeom prst="rect">
            <a:avLst/>
          </a:prstGeom>
          <a:solidFill>
            <a:srgbClr val="31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CF2FF"/>
                </a:solidFill>
                <a:latin typeface="Trebuchet MS"/>
              </a:rPr>
              <a:t>Data 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36192"/>
            <a:ext cx="2651760" cy="498348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73352"/>
            <a:ext cx="841248" cy="384048"/>
          </a:xfrm>
          <a:prstGeom prst="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126"/>
                </a:solidFill>
                <a:latin typeface="Trebuchet MS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2176272"/>
            <a:ext cx="2395728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CF2FF"/>
                </a:solidFill>
                <a:latin typeface="Trebuchet MS"/>
              </a:rPr>
              <a:t>Data Ingestion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Source</a:t>
            </a:r>
            <a:r>
              <a:rPr sz="1100" b="0">
                <a:solidFill>
                  <a:srgbClr val="96A8D2"/>
                </a:solidFill>
                <a:latin typeface="Calibri"/>
              </a:rPr>
              <a:t>  18,650 raw emails from the public Kaggle Phishing Email dataset.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Handling</a:t>
            </a:r>
            <a:r>
              <a:rPr sz="1100" b="0">
                <a:solidFill>
                  <a:srgbClr val="96A8D2"/>
                </a:solidFill>
                <a:latin typeface="Calibri"/>
              </a:rPr>
              <a:t>  Missing email bodies are detected and removed before processing.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Dedup</a:t>
            </a:r>
            <a:r>
              <a:rPr sz="1100" b="0">
                <a:solidFill>
                  <a:srgbClr val="96A8D2"/>
                </a:solidFill>
                <a:latin typeface="Calibri"/>
              </a:rPr>
              <a:t>  1,115 duplicate texts are dropped to prevent train/test data leakage.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3776472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A5E9"/>
                </a:solidFill>
                <a:latin typeface="Calibri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36192"/>
            <a:ext cx="2651760" cy="498348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673352"/>
            <a:ext cx="841248" cy="384048"/>
          </a:xfrm>
          <a:prstGeom prst="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126"/>
                </a:solidFill>
                <a:latin typeface="Trebuchet MS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4136" y="2176272"/>
            <a:ext cx="2395728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CF2FF"/>
                </a:solidFill>
                <a:latin typeface="Trebuchet MS"/>
              </a:rPr>
              <a:t>HTML Stripping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Parser</a:t>
            </a:r>
            <a:r>
              <a:rPr sz="1100" b="0">
                <a:solidFill>
                  <a:srgbClr val="96A8D2"/>
                </a:solidFill>
                <a:latin typeface="Calibri"/>
              </a:rPr>
              <a:t>  BeautifulSoup parses and removes all HTML markup and inline styles.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Scope</a:t>
            </a:r>
            <a:r>
              <a:rPr sz="1100" b="0">
                <a:solidFill>
                  <a:srgbClr val="96A8D2"/>
                </a:solidFill>
                <a:latin typeface="Calibri"/>
              </a:rPr>
              <a:t>  Script, style, and formatting tags are eliminated entirely.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Output</a:t>
            </a:r>
            <a:r>
              <a:rPr sz="1100" b="0">
                <a:solidFill>
                  <a:srgbClr val="96A8D2"/>
                </a:solidFill>
                <a:latin typeface="Calibri"/>
              </a:rPr>
              <a:t>  Clean plaintext email body is extracted for downstream 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2" y="3776472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A5E9"/>
                </a:solidFill>
                <a:latin typeface="Calibr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36192"/>
            <a:ext cx="2651760" cy="498348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73352"/>
            <a:ext cx="841248" cy="384048"/>
          </a:xfrm>
          <a:prstGeom prst="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126"/>
                </a:solidFill>
                <a:latin typeface="Trebuchet MS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176272"/>
            <a:ext cx="2395728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CF2FF"/>
                </a:solidFill>
                <a:latin typeface="Trebuchet MS"/>
              </a:rPr>
              <a:t>Tokenisation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Splitting</a:t>
            </a:r>
            <a:r>
              <a:rPr sz="1100" b="0">
                <a:solidFill>
                  <a:srgbClr val="96A8D2"/>
                </a:solidFill>
                <a:latin typeface="Calibri"/>
              </a:rPr>
              <a:t>  Email body is split into individual word tokens per message.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Normalise</a:t>
            </a:r>
            <a:r>
              <a:rPr sz="1100" b="0">
                <a:solidFill>
                  <a:srgbClr val="96A8D2"/>
                </a:solidFill>
                <a:latin typeface="Calibri"/>
              </a:rPr>
              <a:t>  All tokens are lowercased to ensure case-insensitive matching.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Filter</a:t>
            </a:r>
            <a:r>
              <a:rPr sz="1100" b="0">
                <a:solidFill>
                  <a:srgbClr val="96A8D2"/>
                </a:solidFill>
                <a:latin typeface="Calibri"/>
              </a:rPr>
              <a:t>  Punctuation marks and non-alphabetic characters are discarded.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3776472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A5E9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536192"/>
            <a:ext cx="2651760" cy="498348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673352"/>
            <a:ext cx="841248" cy="384048"/>
          </a:xfrm>
          <a:prstGeom prst="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126"/>
                </a:solidFill>
                <a:latin typeface="Trebuchet MS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176272"/>
            <a:ext cx="2395728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CF2FF"/>
                </a:solidFill>
                <a:latin typeface="Trebuchet MS"/>
              </a:rPr>
              <a:t>Stopword Removal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Remove</a:t>
            </a:r>
            <a:r>
              <a:rPr sz="1100" b="0">
                <a:solidFill>
                  <a:srgbClr val="96A8D2"/>
                </a:solidFill>
                <a:latin typeface="Calibri"/>
              </a:rPr>
              <a:t>  Common English stopwords such as 'the', 'is', and 'at' are stripped.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Retain</a:t>
            </a:r>
            <a:r>
              <a:rPr sz="1100" b="0">
                <a:solidFill>
                  <a:srgbClr val="96A8D2"/>
                </a:solidFill>
                <a:latin typeface="Calibri"/>
              </a:rPr>
              <a:t>  Meaningful content-bearing tokens are preserved for vectorisation.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Result</a:t>
            </a:r>
            <a:r>
              <a:rPr sz="1100" b="0">
                <a:solidFill>
                  <a:srgbClr val="96A8D2"/>
                </a:solidFill>
                <a:latin typeface="Calibri"/>
              </a:rPr>
              <a:t>  17,535 clean, deduplicated email records saved to processed 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0EA5E9"/>
                </a:solidFill>
                <a:latin typeface="Calibri"/>
              </a:rPr>
              <a:t>CYBERSECURITY  ·  NLP  · 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00" cy="12700"/>
          </a:xfrm>
          <a:prstGeom prst="rect">
            <a:avLst/>
          </a:prstGeom>
          <a:solidFill>
            <a:srgbClr val="31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CF2FF"/>
                </a:solidFill>
                <a:latin typeface="Trebuchet MS"/>
              </a:rPr>
              <a:t>Feature Engineering:  The Hybrid Feature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5608"/>
            <a:ext cx="11430000" cy="256032"/>
          </a:xfrm>
          <a:prstGeom prst="rect">
            <a:avLst/>
          </a:prstGeom>
          <a:solidFill>
            <a:srgbClr val="14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5B928"/>
                </a:solidFill>
                <a:latin typeface="Calibri"/>
              </a:rPr>
              <a:t>Combined feature space:  5,000 TF-IDF dimensions  +  100 Word2Vec dimensions  +  12 Structural Metadata features  =  5,112 total features per 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64792"/>
            <a:ext cx="3520440" cy="461772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29384"/>
            <a:ext cx="3191256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EA5E9"/>
                </a:solidFill>
                <a:latin typeface="Trebuchet MS"/>
              </a:rPr>
              <a:t>TF-IDF Text Vectors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N-gram range</a:t>
            </a:r>
            <a:r>
              <a:rPr sz="1200" b="0">
                <a:solidFill>
                  <a:srgbClr val="96A8D2"/>
                </a:solidFill>
                <a:latin typeface="Calibri"/>
              </a:rPr>
              <a:t>  (1, 3) — captures unigrams, bigrams, and trigrams simultaneously.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Vocabulary cap</a:t>
            </a:r>
            <a:r>
              <a:rPr sz="1200" b="0">
                <a:solidFill>
                  <a:srgbClr val="96A8D2"/>
                </a:solidFill>
                <a:latin typeface="Calibri"/>
              </a:rPr>
              <a:t>  Top 5,000 terms retained after frequency-based filtering.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Scaling</a:t>
            </a:r>
            <a:r>
              <a:rPr sz="1200" b="0">
                <a:solidFill>
                  <a:srgbClr val="96A8D2"/>
                </a:solidFill>
                <a:latin typeface="Calibri"/>
              </a:rPr>
              <a:t>  Sublinear TF scaling compresses the effect of high-frequency words.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Output</a:t>
            </a:r>
            <a:r>
              <a:rPr sz="1200" b="0">
                <a:solidFill>
                  <a:srgbClr val="96A8D2"/>
                </a:solidFill>
                <a:latin typeface="Calibri"/>
              </a:rPr>
              <a:t>  Sparse 5,000-dimension matrix; one row per cleaned email.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64792"/>
            <a:ext cx="3520440" cy="461772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29384"/>
            <a:ext cx="3191256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5B928"/>
                </a:solidFill>
                <a:latin typeface="Trebuchet MS"/>
              </a:rPr>
              <a:t>Word2Vec Embeddings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Training</a:t>
            </a:r>
            <a:r>
              <a:rPr sz="1200" b="0">
                <a:solidFill>
                  <a:srgbClr val="96A8D2"/>
                </a:solidFill>
                <a:latin typeface="Calibri"/>
              </a:rPr>
              <a:t>  Custom gensim Word2Vec model trained on the cleaned token stream.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Dimensionality</a:t>
            </a:r>
            <a:r>
              <a:rPr sz="1200" b="0">
                <a:solidFill>
                  <a:srgbClr val="96A8D2"/>
                </a:solidFill>
                <a:latin typeface="Calibri"/>
              </a:rPr>
              <a:t>  Each unique word is represented as a 100-dimensional dense vector.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Aggregation</a:t>
            </a:r>
            <a:r>
              <a:rPr sz="1200" b="0">
                <a:solidFill>
                  <a:srgbClr val="96A8D2"/>
                </a:solidFill>
                <a:latin typeface="Calibri"/>
              </a:rPr>
              <a:t>  Per-email vector = mean of all constituent word vectors.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Normalisation</a:t>
            </a:r>
            <a:r>
              <a:rPr sz="1200" b="0">
                <a:solidFill>
                  <a:srgbClr val="96A8D2"/>
                </a:solidFill>
                <a:latin typeface="Calibri"/>
              </a:rPr>
              <a:t>  MinMaxScaler maps all values to [0, 1] for classifier stability.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764792"/>
            <a:ext cx="3520440" cy="461772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929384"/>
            <a:ext cx="3191256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2C55E"/>
                </a:solidFill>
                <a:latin typeface="Trebuchet MS"/>
              </a:rPr>
              <a:t>Structural Metadata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URL signals</a:t>
            </a:r>
            <a:r>
              <a:rPr sz="1200" b="0">
                <a:solidFill>
                  <a:srgbClr val="96A8D2"/>
                </a:solidFill>
                <a:latin typeface="Calibri"/>
              </a:rPr>
              <a:t>  Raw URL count and binary link-presence flag per email.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Urgency score</a:t>
            </a:r>
            <a:r>
              <a:rPr sz="1200" b="0">
                <a:solidFill>
                  <a:srgbClr val="96A8D2"/>
                </a:solidFill>
                <a:latin typeface="Calibri"/>
              </a:rPr>
              <a:t>  Frequency match against 20 known phishing urgency keywords.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Formatting</a:t>
            </a:r>
            <a:r>
              <a:rPr sz="1200" b="0">
                <a:solidFill>
                  <a:srgbClr val="96A8D2"/>
                </a:solidFill>
                <a:latin typeface="Calibri"/>
              </a:rPr>
              <a:t>  Exclamation density, capitalisation ratio, punctuation density.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Scaling</a:t>
            </a:r>
            <a:r>
              <a:rPr sz="1200" b="0">
                <a:solidFill>
                  <a:srgbClr val="96A8D2"/>
                </a:solidFill>
                <a:latin typeface="Calibri"/>
              </a:rPr>
              <a:t>  All 12 features MinMax scaled before concatenation into matrix.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0EA5E9"/>
                </a:solidFill>
                <a:latin typeface="Calibri"/>
              </a:rPr>
              <a:t>CYBERSECURITY  ·  NLP  · 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00" cy="12700"/>
          </a:xfrm>
          <a:prstGeom prst="rect">
            <a:avLst/>
          </a:prstGeom>
          <a:solidFill>
            <a:srgbClr val="31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CF2FF"/>
                </a:solidFill>
                <a:latin typeface="Trebuchet MS"/>
              </a:rPr>
              <a:t>Model Selection  and  Hyperparameter 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5394960" cy="502920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73352"/>
            <a:ext cx="5065776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EA5E9"/>
                </a:solidFill>
                <a:latin typeface="Trebuchet MS"/>
              </a:rPr>
              <a:t>Classifiers Under Evaluation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Logistic Regression</a:t>
            </a:r>
            <a:r>
              <a:rPr sz="1300" b="0">
                <a:solidFill>
                  <a:srgbClr val="96A8D2"/>
                </a:solidFill>
                <a:latin typeface="Calibri"/>
              </a:rPr>
              <a:t>  Linear baseline; fast training with high interpretability.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Random Forest</a:t>
            </a:r>
            <a:r>
              <a:rPr sz="1300" b="0">
                <a:solidFill>
                  <a:srgbClr val="96A8D2"/>
                </a:solidFill>
                <a:latin typeface="Calibri"/>
              </a:rPr>
              <a:t>  Bagging ensemble of 200 decision trees; handles non-linear feature interactions.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Multinomial Naive Bayes</a:t>
            </a:r>
            <a:r>
              <a:rPr sz="1300" b="0">
                <a:solidFill>
                  <a:srgbClr val="96A8D2"/>
                </a:solidFill>
                <a:latin typeface="Calibri"/>
              </a:rPr>
              <a:t>  Probabilistic model well-suited to sparse TF-IDF feature distributions.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MLP Neural Network</a:t>
            </a:r>
            <a:r>
              <a:rPr sz="1300" b="0">
                <a:solidFill>
                  <a:srgbClr val="96A8D2"/>
                </a:solidFill>
                <a:latin typeface="Calibri"/>
              </a:rPr>
              <a:t>  Three-layer perceptron with ReLU activations and early stopping regularisation.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>
                <a:solidFill>
                  <a:srgbClr val="96A8D2"/>
                </a:solidFill>
                <a:latin typeface="Calibri"/>
              </a:rPr>
              <a:t>All classifiers trained on the identical 5,112-feature hybrid matrix.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08760"/>
            <a:ext cx="5394960" cy="502920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673352"/>
            <a:ext cx="5065776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C55E"/>
                </a:solidFill>
                <a:latin typeface="Trebuchet MS"/>
              </a:rPr>
              <a:t>Cross-Validation and Ensemble Strategy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22C55E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Train / Test split</a:t>
            </a:r>
            <a:r>
              <a:rPr sz="1300" b="0">
                <a:solidFill>
                  <a:srgbClr val="96A8D2"/>
                </a:solidFill>
                <a:latin typeface="Calibri"/>
              </a:rPr>
              <a:t>  Stratified 80/20 split preserves the natural class imbalance ratio.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Grid Search CV</a:t>
            </a:r>
            <a:r>
              <a:rPr sz="1300" b="0">
                <a:solidFill>
                  <a:srgbClr val="96A8D2"/>
                </a:solidFill>
                <a:latin typeface="Calibri"/>
              </a:rPr>
              <a:t>  5-fold Stratified Cross-Validation sweeps hyperparameter combinations per model.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Class balancing</a:t>
            </a:r>
            <a:r>
              <a:rPr sz="1300" b="0">
                <a:solidFill>
                  <a:srgbClr val="96A8D2"/>
                </a:solidFill>
                <a:latin typeface="Calibri"/>
              </a:rPr>
              <a:t>  class_weight='balanced' corrects for the 62.6% safe / 37.4% phishing skew.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Soft-Voting Ensemble</a:t>
            </a:r>
            <a:r>
              <a:rPr sz="1300" b="0">
                <a:solidFill>
                  <a:srgbClr val="96A8D2"/>
                </a:solidFill>
                <a:latin typeface="Calibri"/>
              </a:rPr>
              <a:t>  Aggregates predicted class probabilities from all four models; majority wins.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>
                <a:solidFill>
                  <a:srgbClr val="F5B928"/>
                </a:solidFill>
                <a:latin typeface="Calibri"/>
              </a:rPr>
              <a:t>Voting Ensemble — 98.52% Accuracy  |  98.02% F1-Score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0EA5E9"/>
                </a:solidFill>
                <a:latin typeface="Calibri"/>
              </a:rPr>
              <a:t>CYBERSECURITY  ·  NLP  · 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00" cy="12700"/>
          </a:xfrm>
          <a:prstGeom prst="rect">
            <a:avLst/>
          </a:prstGeom>
          <a:solidFill>
            <a:srgbClr val="31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CF2FF"/>
                </a:solidFill>
                <a:latin typeface="Trebuchet MS"/>
              </a:rPr>
              <a:t>Experimental Results  and  Model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72768"/>
          <a:ext cx="1069847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737360"/>
                <a:gridCol w="1737360"/>
                <a:gridCol w="1737360"/>
                <a:gridCol w="173736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A5E9"/>
                          </a:solidFill>
                          <a:latin typeface="Trebuchet MS"/>
                        </a:rPr>
                        <a:t>Classifier Model</a:t>
                      </a:r>
                    </a:p>
                  </a:txBody>
                  <a:tcPr>
                    <a:solidFill>
                      <a:srgbClr val="081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A5E9"/>
                          </a:solidFill>
                          <a:latin typeface="Trebuchet MS"/>
                        </a:rPr>
                        <a:t>Accuracy</a:t>
                      </a:r>
                    </a:p>
                  </a:txBody>
                  <a:tcPr>
                    <a:solidFill>
                      <a:srgbClr val="081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A5E9"/>
                          </a:solidFill>
                          <a:latin typeface="Trebuchet MS"/>
                        </a:rPr>
                        <a:t>Precision</a:t>
                      </a:r>
                    </a:p>
                  </a:txBody>
                  <a:tcPr>
                    <a:solidFill>
                      <a:srgbClr val="081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A5E9"/>
                          </a:solidFill>
                          <a:latin typeface="Trebuchet MS"/>
                        </a:rPr>
                        <a:t>Recall</a:t>
                      </a:r>
                    </a:p>
                  </a:txBody>
                  <a:tcPr>
                    <a:solidFill>
                      <a:srgbClr val="081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A5E9"/>
                          </a:solidFill>
                          <a:latin typeface="Trebuchet MS"/>
                        </a:rPr>
                        <a:t>F1-Score</a:t>
                      </a:r>
                    </a:p>
                  </a:txBody>
                  <a:tcPr>
                    <a:solidFill>
                      <a:srgbClr val="08183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98.26%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97.28%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98.09%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97.68%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11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98.00%</a:t>
                      </a:r>
                    </a:p>
                  </a:txBody>
                  <a:tcPr>
                    <a:solidFill>
                      <a:srgbClr val="11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97.04%</a:t>
                      </a:r>
                    </a:p>
                  </a:txBody>
                  <a:tcPr>
                    <a:solidFill>
                      <a:srgbClr val="11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97.64%</a:t>
                      </a:r>
                    </a:p>
                  </a:txBody>
                  <a:tcPr>
                    <a:solidFill>
                      <a:srgbClr val="11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97.34%</a:t>
                      </a:r>
                    </a:p>
                  </a:txBody>
                  <a:tcPr>
                    <a:solidFill>
                      <a:srgbClr val="111B3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Multinomial Naive Bayes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97.15%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96.54%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95.80%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96.17%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Neural Network (MLP)</a:t>
                      </a:r>
                    </a:p>
                  </a:txBody>
                  <a:tcPr>
                    <a:solidFill>
                      <a:srgbClr val="11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98.29%</a:t>
                      </a:r>
                    </a:p>
                  </a:txBody>
                  <a:tcPr>
                    <a:solidFill>
                      <a:srgbClr val="11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98.30%</a:t>
                      </a:r>
                    </a:p>
                  </a:txBody>
                  <a:tcPr>
                    <a:solidFill>
                      <a:srgbClr val="11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97.10%</a:t>
                      </a:r>
                    </a:p>
                  </a:txBody>
                  <a:tcPr>
                    <a:solidFill>
                      <a:srgbClr val="11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CF2FF"/>
                          </a:solidFill>
                          <a:latin typeface="Calibri"/>
                        </a:rPr>
                        <a:t>97.70%</a:t>
                      </a:r>
                    </a:p>
                  </a:txBody>
                  <a:tcPr>
                    <a:solidFill>
                      <a:srgbClr val="111B3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5B928"/>
                          </a:solidFill>
                          <a:latin typeface="Calibri"/>
                        </a:rPr>
                        <a:t>Voting Ensemble  (Best)</a:t>
                      </a:r>
                    </a:p>
                  </a:txBody>
                  <a:tcPr>
                    <a:solidFill>
                      <a:srgbClr val="12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B928"/>
                          </a:solidFill>
                          <a:latin typeface="Calibri"/>
                        </a:rPr>
                        <a:t>98.52%</a:t>
                      </a:r>
                    </a:p>
                  </a:txBody>
                  <a:tcPr>
                    <a:solidFill>
                      <a:srgbClr val="12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B928"/>
                          </a:solidFill>
                          <a:latin typeface="Calibri"/>
                        </a:rPr>
                        <a:t>98.09%</a:t>
                      </a:r>
                    </a:p>
                  </a:txBody>
                  <a:tcPr>
                    <a:solidFill>
                      <a:srgbClr val="12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B928"/>
                          </a:solidFill>
                          <a:latin typeface="Calibri"/>
                        </a:rPr>
                        <a:t>97.94%</a:t>
                      </a:r>
                    </a:p>
                  </a:txBody>
                  <a:tcPr>
                    <a:solidFill>
                      <a:srgbClr val="12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B928"/>
                          </a:solidFill>
                          <a:latin typeface="Calibri"/>
                        </a:rPr>
                        <a:t>98.02%</a:t>
                      </a:r>
                    </a:p>
                  </a:txBody>
                  <a:tcPr>
                    <a:solidFill>
                      <a:srgbClr val="12285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79592"/>
            <a:ext cx="11109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1">
                <a:solidFill>
                  <a:srgbClr val="96A8D2"/>
                </a:solidFill>
                <a:latin typeface="Calibri"/>
              </a:rPr>
              <a:t>Note: Adding custom Word2Vec embeddings alongside MinMaxScaler-normalised structural metadata raised the ensemble F1-Score to 98.02%, outperforming every individual classifier.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0EA5E9"/>
                </a:solidFill>
                <a:latin typeface="Calibri"/>
              </a:rPr>
              <a:t>CYBERSECURITY  ·  NLP  · 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00" cy="12700"/>
          </a:xfrm>
          <a:prstGeom prst="rect">
            <a:avLst/>
          </a:prstGeom>
          <a:solidFill>
            <a:srgbClr val="31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CF2FF"/>
                </a:solidFill>
                <a:latin typeface="Trebuchet MS"/>
              </a:rPr>
              <a:t>Feature Importance  and  Confusion Matrix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5394960" cy="502920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CF2FF"/>
                </a:solidFill>
                <a:latin typeface="Trebuchet MS"/>
              </a:rPr>
              <a:t>Voting Ensemble — Confusion Matrix</a:t>
            </a:r>
          </a:p>
        </p:txBody>
      </p:sp>
      <p:pic>
        <p:nvPicPr>
          <p:cNvPr id="7" name="Picture 6" descr="confusion_matrix_Voting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84831"/>
            <a:ext cx="5074920" cy="41330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508760"/>
            <a:ext cx="5394960" cy="502920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7276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CF2FF"/>
                </a:solidFill>
                <a:latin typeface="Trebuchet MS"/>
              </a:rPr>
              <a:t>Random Forest — Top 15 Feature Importance Drivers</a:t>
            </a:r>
          </a:p>
        </p:txBody>
      </p:sp>
      <p:pic>
        <p:nvPicPr>
          <p:cNvPr id="10" name="Picture 9" descr="feature_importance_Random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84831"/>
            <a:ext cx="5120640" cy="41330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0EA5E9"/>
                </a:solidFill>
                <a:latin typeface="Calibri"/>
              </a:rPr>
              <a:t>CYBERSECURITY  ·  NLP  · 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00" cy="12700"/>
          </a:xfrm>
          <a:prstGeom prst="rect">
            <a:avLst/>
          </a:prstGeom>
          <a:solidFill>
            <a:srgbClr val="31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CF2FF"/>
                </a:solidFill>
                <a:latin typeface="Trebuchet MS"/>
              </a:rPr>
              <a:t>Validation Curves:  ROC Curve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6675120" cy="502920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CF2FF"/>
                </a:solidFill>
                <a:latin typeface="Trebuchet MS"/>
              </a:rPr>
              <a:t>Receiver Operating Characteristic (ROC) — All Classifiers</a:t>
            </a:r>
          </a:p>
        </p:txBody>
      </p:sp>
      <p:pic>
        <p:nvPicPr>
          <p:cNvPr id="7" name="Picture 6" descr="roc_cur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640080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508760"/>
            <a:ext cx="4572000" cy="502920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7" y="1673352"/>
            <a:ext cx="4251960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EA5E9"/>
                </a:solidFill>
                <a:latin typeface="Trebuchet MS"/>
              </a:rPr>
              <a:t>Validation Curve Interpretation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FPR vs TPR</a:t>
            </a:r>
            <a:r>
              <a:rPr sz="1200" b="0">
                <a:solidFill>
                  <a:srgbClr val="96A8D2"/>
                </a:solidFill>
                <a:latin typeface="Calibri"/>
              </a:rPr>
              <a:t>  Plots the classifier's sensitivity against specificity across all decision thresholds.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AUC score</a:t>
            </a:r>
            <a:r>
              <a:rPr sz="1200" b="0">
                <a:solidFill>
                  <a:srgbClr val="96A8D2"/>
                </a:solidFill>
                <a:latin typeface="Calibri"/>
              </a:rPr>
              <a:t>  A higher area under the curve indicates stronger discriminative power.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Leading model</a:t>
            </a:r>
            <a:r>
              <a:rPr sz="1200" b="0">
                <a:solidFill>
                  <a:srgbClr val="96A8D2"/>
                </a:solidFill>
                <a:latin typeface="Calibri"/>
              </a:rPr>
              <a:t>  The Voting Ensemble consistently achieves the highest AUC across all folds.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CV robustness</a:t>
            </a:r>
            <a:r>
              <a:rPr sz="1200" b="0">
                <a:solidFill>
                  <a:srgbClr val="96A8D2"/>
                </a:solidFill>
                <a:latin typeface="Calibri"/>
              </a:rPr>
              <a:t>  Stratified 5-fold validation ensures the results generalise beyond the training set.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Deployment</a:t>
            </a:r>
            <a:r>
              <a:rPr sz="1200" b="0">
                <a:solidFill>
                  <a:srgbClr val="96A8D2"/>
                </a:solidFill>
                <a:latin typeface="Calibri"/>
              </a:rPr>
              <a:t>  Threshold can be adjusted live via the Streamlit dashboard probability sliders.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0EA5E9"/>
                </a:solidFill>
                <a:latin typeface="Calibri"/>
              </a:rPr>
              <a:t>CYBERSECURITY  ·  NLP  · 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00" cy="12700"/>
          </a:xfrm>
          <a:prstGeom prst="rect">
            <a:avLst/>
          </a:prstGeom>
          <a:solidFill>
            <a:srgbClr val="31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CF2FF"/>
                </a:solidFill>
                <a:latin typeface="Trebuchet MS"/>
              </a:rPr>
              <a:t>Ethical Trade-offs  and  Production Considerations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5394960" cy="502920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73352"/>
            <a:ext cx="5065776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EA5E9"/>
                </a:solidFill>
                <a:latin typeface="Trebuchet MS"/>
              </a:rPr>
              <a:t>Precision vs. Recall Dilemma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High Recall</a:t>
            </a:r>
            <a:r>
              <a:rPr sz="1300" b="0">
                <a:solidFill>
                  <a:srgbClr val="96A8D2"/>
                </a:solidFill>
                <a:latin typeface="Calibri"/>
              </a:rPr>
              <a:t>  Captures more threats but increases the risk of quarantining legitimate business mail.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High Precision</a:t>
            </a:r>
            <a:r>
              <a:rPr sz="1300" b="0">
                <a:solidFill>
                  <a:srgbClr val="96A8D2"/>
                </a:solidFill>
                <a:latin typeface="Calibri"/>
              </a:rPr>
              <a:t>  Protects inbox delivery but allows sophisticated phishing messages to pass undetected.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Routing strategy</a:t>
            </a:r>
            <a:r>
              <a:rPr sz="1300" b="0">
                <a:solidFill>
                  <a:srgbClr val="96A8D2"/>
                </a:solidFill>
                <a:latin typeface="Calibri"/>
              </a:rPr>
              <a:t>  Emails scoring above 90% phishing confidence are quarantined; borderline cases are flagged for manual analyst review.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>
                <a:solidFill>
                  <a:srgbClr val="96A8D2"/>
                </a:solidFill>
                <a:latin typeface="Calibri"/>
              </a:rPr>
              <a:t>The Streamlit dashboard exposes adjustable thresholds for operator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08760"/>
            <a:ext cx="5394960" cy="502920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673352"/>
            <a:ext cx="5065776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5B928"/>
                </a:solidFill>
                <a:latin typeface="Trebuchet MS"/>
              </a:rPr>
              <a:t>Bias and Deployment Risks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F5B928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Training bias</a:t>
            </a:r>
            <a:r>
              <a:rPr sz="1300" b="0">
                <a:solidFill>
                  <a:srgbClr val="96A8D2"/>
                </a:solidFill>
                <a:latin typeface="Calibri"/>
              </a:rPr>
              <a:t>  Overemphasis on formatting cues may flag international newsletters as phishing.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Vocabulary drift</a:t>
            </a:r>
            <a:r>
              <a:rPr sz="1300" b="0">
                <a:solidFill>
                  <a:srgbClr val="96A8D2"/>
                </a:solidFill>
                <a:latin typeface="Calibri"/>
              </a:rPr>
              <a:t>  The Word2Vec model requires periodic retraining as attacker language evolves.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Transparency</a:t>
            </a:r>
            <a:r>
              <a:rPr sz="1300" b="0">
                <a:solidFill>
                  <a:srgbClr val="96A8D2"/>
                </a:solidFill>
                <a:latin typeface="Calibri"/>
              </a:rPr>
              <a:t>  Automated filtering decisions must be auditable and disputable by end-users.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Data privacy</a:t>
            </a:r>
            <a:r>
              <a:rPr sz="1300" b="0">
                <a:solidFill>
                  <a:srgbClr val="96A8D2"/>
                </a:solidFill>
                <a:latin typeface="Calibri"/>
              </a:rPr>
              <a:t>  Email body analysis must comply with GDPR and applicable enterprise data policies.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0EA5E9"/>
                </a:solidFill>
                <a:latin typeface="Calibri"/>
              </a:rPr>
              <a:t>CYBERSECURITY  ·  NLP  · 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00" cy="12700"/>
          </a:xfrm>
          <a:prstGeom prst="rect">
            <a:avLst/>
          </a:prstGeom>
          <a:solidFill>
            <a:srgbClr val="31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CF2FF"/>
                </a:solidFill>
                <a:latin typeface="Trebuchet MS"/>
              </a:rPr>
              <a:t>Summary  and 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5394960" cy="502920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73352"/>
            <a:ext cx="5065776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EA5E9"/>
                </a:solidFill>
                <a:latin typeface="Trebuchet MS"/>
              </a:rPr>
              <a:t>Key Takeaways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314370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Hybrid pipeline</a:t>
            </a:r>
            <a:r>
              <a:rPr sz="1300" b="0">
                <a:solidFill>
                  <a:srgbClr val="96A8D2"/>
                </a:solidFill>
                <a:latin typeface="Calibri"/>
              </a:rPr>
              <a:t>  Combining TF-IDF, Word2Vec, and structural metadata yields state-of-the-art performance.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Best classifier</a:t>
            </a:r>
            <a:r>
              <a:rPr sz="1300" b="0">
                <a:solidFill>
                  <a:srgbClr val="96A8D2"/>
                </a:solidFill>
                <a:latin typeface="Calibri"/>
              </a:rPr>
              <a:t>  The soft-voting ensemble achieved 98.52% Accuracy and 98.02% F1-Score on the test set.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Data quality</a:t>
            </a:r>
            <a:r>
              <a:rPr sz="1300" b="0">
                <a:solidFill>
                  <a:srgbClr val="96A8D2"/>
                </a:solidFill>
                <a:latin typeface="Calibri"/>
              </a:rPr>
              <a:t>  Removing 1,115 duplicate emails was critical to prevent test-data contamination.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Validation</a:t>
            </a:r>
            <a:r>
              <a:rPr sz="1300" b="0">
                <a:solidFill>
                  <a:srgbClr val="96A8D2"/>
                </a:solidFill>
                <a:latin typeface="Calibri"/>
              </a:rPr>
              <a:t>  Stratified 5-fold cross-validation and ROC curves confirm strong generalisation.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>
                <a:solidFill>
                  <a:srgbClr val="96A8D2"/>
                </a:solidFill>
                <a:latin typeface="Calibri"/>
              </a:rPr>
              <a:t>The project demonstrates that classical ML with careful feature engineering can rival deep-learning approaches at a fraction of the inference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08760"/>
            <a:ext cx="5394960" cy="5029200"/>
          </a:xfrm>
          <a:prstGeom prst="roundRect">
            <a:avLst/>
          </a:prstGeom>
          <a:solidFill>
            <a:srgbClr val="16203A"/>
          </a:solidFill>
          <a:ln w="15240">
            <a:solidFill>
              <a:srgbClr val="31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673352"/>
            <a:ext cx="5065776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2C55E"/>
                </a:solidFill>
                <a:latin typeface="Trebuchet MS"/>
              </a:rPr>
              <a:t>Future Directions</a:t>
            </a:r>
          </a:p>
          <a:p>
            <a:pPr>
              <a:spcAft>
                <a:spcPts val="600"/>
              </a:spcAft>
            </a:pPr>
            <a:r>
              <a:rPr sz="700">
                <a:solidFill>
                  <a:srgbClr val="22C55E"/>
                </a:solidFill>
                <a:latin typeface="Calibri"/>
              </a:rPr>
              <a:t>──────────────────────────────────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DistilBERT</a:t>
            </a:r>
            <a:r>
              <a:rPr sz="1300" b="0">
                <a:solidFill>
                  <a:srgbClr val="96A8D2"/>
                </a:solidFill>
                <a:latin typeface="Calibri"/>
              </a:rPr>
              <a:t>  Replace static Word2Vec with contextual transformer embeddings for multi-sentence intent.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Email headers</a:t>
            </a:r>
            <a:r>
              <a:rPr sz="1300" b="0">
                <a:solidFill>
                  <a:srgbClr val="96A8D2"/>
                </a:solidFill>
                <a:latin typeface="Calibri"/>
              </a:rPr>
              <a:t>  Integrate SPF, DKIM, and DMARC authentication results as additional metadata features.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REST API</a:t>
            </a:r>
            <a:r>
              <a:rPr sz="1300" b="0">
                <a:solidFill>
                  <a:srgbClr val="96A8D2"/>
                </a:solidFill>
                <a:latin typeface="Calibri"/>
              </a:rPr>
              <a:t>  Expose a FastAPI inference endpoint for direct integration at the enterprise email gateway.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Active learning</a:t>
            </a:r>
            <a:r>
              <a:rPr sz="1300" b="0">
                <a:solidFill>
                  <a:srgbClr val="96A8D2"/>
                </a:solidFill>
                <a:latin typeface="Calibri"/>
              </a:rPr>
              <a:t>  Continuously retrain on analyst-labelled uncertain predictions to reduce drift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